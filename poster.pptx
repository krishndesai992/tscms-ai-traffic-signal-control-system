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0104100" cy="14204950"/>
  <p:notesSz cx="20104100" cy="142049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662" y="-95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4403534"/>
            <a:ext cx="17088486" cy="2983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7954772"/>
            <a:ext cx="14072870" cy="35512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3267138"/>
            <a:ext cx="8745284" cy="9375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3267138"/>
            <a:ext cx="8745284" cy="9375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5.pn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24" Type="http://schemas.openxmlformats.org/officeDocument/2006/relationships/image" Target="../media/image18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28" Type="http://schemas.openxmlformats.org/officeDocument/2006/relationships/image" Target="../media/image22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Relationship Id="rId22" Type="http://schemas.openxmlformats.org/officeDocument/2006/relationships/image" Target="../media/image16.png"/><Relationship Id="rId27" Type="http://schemas.openxmlformats.org/officeDocument/2006/relationships/image" Target="../media/image2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212649"/>
            <a:ext cx="5924977" cy="1199031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56857" y="2255383"/>
            <a:ext cx="13827435" cy="1194758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66678" y="1241196"/>
            <a:ext cx="17937420" cy="95021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88155" y="1252778"/>
            <a:ext cx="17915941" cy="906174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2188155" y="1252778"/>
            <a:ext cx="17916525" cy="906780"/>
          </a:xfrm>
          <a:custGeom>
            <a:avLst/>
            <a:gdLst/>
            <a:ahLst/>
            <a:cxnLst/>
            <a:rect l="l" t="t" r="r" b="b"/>
            <a:pathLst>
              <a:path w="17916525" h="906780">
                <a:moveTo>
                  <a:pt x="17915941" y="906174"/>
                </a:moveTo>
                <a:lnTo>
                  <a:pt x="0" y="906174"/>
                </a:lnTo>
                <a:lnTo>
                  <a:pt x="0" y="0"/>
                </a:lnTo>
                <a:lnTo>
                  <a:pt x="17915941" y="0"/>
                </a:lnTo>
              </a:path>
            </a:pathLst>
          </a:custGeom>
          <a:ln w="4460">
            <a:solidFill>
              <a:srgbClr val="5497D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52191" y="2233808"/>
            <a:ext cx="4985430" cy="432048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673489" y="2245594"/>
            <a:ext cx="4942430" cy="391649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4299317" y="6944511"/>
            <a:ext cx="5546725" cy="977900"/>
          </a:xfrm>
          <a:custGeom>
            <a:avLst/>
            <a:gdLst/>
            <a:ahLst/>
            <a:cxnLst/>
            <a:rect l="l" t="t" r="r" b="b"/>
            <a:pathLst>
              <a:path w="5546725" h="977900">
                <a:moveTo>
                  <a:pt x="5546135" y="977710"/>
                </a:moveTo>
                <a:lnTo>
                  <a:pt x="0" y="977710"/>
                </a:lnTo>
                <a:lnTo>
                  <a:pt x="0" y="0"/>
                </a:lnTo>
                <a:lnTo>
                  <a:pt x="5546135" y="0"/>
                </a:lnTo>
                <a:lnTo>
                  <a:pt x="5546135" y="977710"/>
                </a:lnTo>
                <a:close/>
              </a:path>
            </a:pathLst>
          </a:custGeom>
          <a:solidFill>
            <a:srgbClr val="D8E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4299317" y="6944511"/>
            <a:ext cx="5546725" cy="977900"/>
          </a:xfrm>
          <a:custGeom>
            <a:avLst/>
            <a:gdLst/>
            <a:ahLst/>
            <a:cxnLst/>
            <a:rect l="l" t="t" r="r" b="b"/>
            <a:pathLst>
              <a:path w="5546725" h="977900">
                <a:moveTo>
                  <a:pt x="0" y="0"/>
                </a:moveTo>
                <a:lnTo>
                  <a:pt x="5546135" y="0"/>
                </a:lnTo>
                <a:lnTo>
                  <a:pt x="5546135" y="977710"/>
                </a:lnTo>
                <a:lnTo>
                  <a:pt x="0" y="977710"/>
                </a:lnTo>
                <a:lnTo>
                  <a:pt x="0" y="0"/>
                </a:lnTo>
                <a:close/>
              </a:path>
            </a:pathLst>
          </a:custGeom>
          <a:ln w="17849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099738" y="8242814"/>
            <a:ext cx="4017913" cy="432034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120988" y="8254600"/>
            <a:ext cx="3976826" cy="391649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4028413" y="9086815"/>
            <a:ext cx="5913162" cy="1276737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148594" y="11467262"/>
            <a:ext cx="1920194" cy="432035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14098209" y="12041813"/>
            <a:ext cx="5861050" cy="2124075"/>
          </a:xfrm>
          <a:custGeom>
            <a:avLst/>
            <a:gdLst/>
            <a:ahLst/>
            <a:cxnLst/>
            <a:rect l="l" t="t" r="r" b="b"/>
            <a:pathLst>
              <a:path w="5861050" h="2124075">
                <a:moveTo>
                  <a:pt x="5860819" y="2123515"/>
                </a:moveTo>
                <a:lnTo>
                  <a:pt x="0" y="2123515"/>
                </a:lnTo>
                <a:lnTo>
                  <a:pt x="0" y="0"/>
                </a:lnTo>
                <a:lnTo>
                  <a:pt x="5860819" y="0"/>
                </a:lnTo>
                <a:lnTo>
                  <a:pt x="5860819" y="2123515"/>
                </a:lnTo>
                <a:close/>
              </a:path>
            </a:pathLst>
          </a:custGeom>
          <a:solidFill>
            <a:srgbClr val="D8E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169699" y="11479049"/>
            <a:ext cx="1876011" cy="391649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49276" y="121380"/>
            <a:ext cx="2038395" cy="2124051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437660" y="4736413"/>
            <a:ext cx="3191263" cy="43203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426631" y="4716000"/>
            <a:ext cx="3214331" cy="455996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166678" y="2486408"/>
            <a:ext cx="1623555" cy="432048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187773" y="2498194"/>
            <a:ext cx="1580977" cy="391649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2187954" y="-65"/>
            <a:ext cx="17916525" cy="1209040"/>
          </a:xfrm>
          <a:custGeom>
            <a:avLst/>
            <a:gdLst/>
            <a:ahLst/>
            <a:cxnLst/>
            <a:rect l="l" t="t" r="r" b="b"/>
            <a:pathLst>
              <a:path w="17916525" h="1209040">
                <a:moveTo>
                  <a:pt x="17916144" y="1208611"/>
                </a:moveTo>
                <a:lnTo>
                  <a:pt x="0" y="1208611"/>
                </a:lnTo>
                <a:lnTo>
                  <a:pt x="0" y="66"/>
                </a:lnTo>
                <a:lnTo>
                  <a:pt x="17916144" y="0"/>
                </a:lnTo>
                <a:lnTo>
                  <a:pt x="17916144" y="1208611"/>
                </a:lnTo>
                <a:close/>
              </a:path>
            </a:pathLst>
          </a:custGeom>
          <a:solidFill>
            <a:srgbClr val="4472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2187954" y="-65"/>
            <a:ext cx="17916525" cy="1209040"/>
          </a:xfrm>
          <a:custGeom>
            <a:avLst/>
            <a:gdLst/>
            <a:ahLst/>
            <a:cxnLst/>
            <a:rect l="l" t="t" r="r" b="b"/>
            <a:pathLst>
              <a:path w="17916525" h="1209040">
                <a:moveTo>
                  <a:pt x="17916144" y="1208611"/>
                </a:moveTo>
                <a:lnTo>
                  <a:pt x="0" y="1208611"/>
                </a:lnTo>
                <a:lnTo>
                  <a:pt x="0" y="66"/>
                </a:lnTo>
                <a:lnTo>
                  <a:pt x="17916144" y="0"/>
                </a:lnTo>
              </a:path>
            </a:pathLst>
          </a:custGeom>
          <a:ln w="5954">
            <a:solidFill>
              <a:srgbClr val="3153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02518" y="7683655"/>
            <a:ext cx="4985430" cy="43204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623812" y="7695446"/>
            <a:ext cx="4942430" cy="391649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6499712" y="2425085"/>
            <a:ext cx="988216" cy="432034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6520799" y="2436872"/>
            <a:ext cx="946113" cy="391649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505297" y="12192741"/>
            <a:ext cx="5096481" cy="432034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608666" y="10513919"/>
            <a:ext cx="5054286" cy="389859"/>
          </a:xfrm>
          <a:prstGeom prst="rect">
            <a:avLst/>
          </a:prstGeom>
        </p:spPr>
      </p:pic>
      <p:sp>
        <p:nvSpPr>
          <p:cNvPr id="44" name="bg object 44"/>
          <p:cNvSpPr/>
          <p:nvPr/>
        </p:nvSpPr>
        <p:spPr>
          <a:xfrm>
            <a:off x="7608666" y="10513919"/>
            <a:ext cx="5054600" cy="389890"/>
          </a:xfrm>
          <a:custGeom>
            <a:avLst/>
            <a:gdLst/>
            <a:ahLst/>
            <a:cxnLst/>
            <a:rect l="l" t="t" r="r" b="b"/>
            <a:pathLst>
              <a:path w="5054600" h="389890">
                <a:moveTo>
                  <a:pt x="0" y="0"/>
                </a:moveTo>
                <a:lnTo>
                  <a:pt x="5054286" y="0"/>
                </a:lnTo>
                <a:lnTo>
                  <a:pt x="5054286" y="389859"/>
                </a:lnTo>
                <a:lnTo>
                  <a:pt x="0" y="389859"/>
                </a:lnTo>
                <a:lnTo>
                  <a:pt x="0" y="0"/>
                </a:lnTo>
                <a:close/>
              </a:path>
            </a:pathLst>
          </a:custGeom>
          <a:ln w="4468">
            <a:solidFill>
              <a:srgbClr val="5497D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bg object 4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920067" y="7288605"/>
            <a:ext cx="4220206" cy="4993611"/>
          </a:xfrm>
          <a:prstGeom prst="rect">
            <a:avLst/>
          </a:prstGeom>
        </p:spPr>
      </p:pic>
      <p:sp>
        <p:nvSpPr>
          <p:cNvPr id="46" name="bg object 46"/>
          <p:cNvSpPr/>
          <p:nvPr/>
        </p:nvSpPr>
        <p:spPr>
          <a:xfrm>
            <a:off x="6348372" y="10896032"/>
            <a:ext cx="7513955" cy="2296795"/>
          </a:xfrm>
          <a:custGeom>
            <a:avLst/>
            <a:gdLst/>
            <a:ahLst/>
            <a:cxnLst/>
            <a:rect l="l" t="t" r="r" b="b"/>
            <a:pathLst>
              <a:path w="7513955" h="2296794">
                <a:moveTo>
                  <a:pt x="7513480" y="2296493"/>
                </a:moveTo>
                <a:lnTo>
                  <a:pt x="0" y="2296493"/>
                </a:lnTo>
                <a:lnTo>
                  <a:pt x="0" y="0"/>
                </a:lnTo>
                <a:lnTo>
                  <a:pt x="7513480" y="0"/>
                </a:lnTo>
                <a:lnTo>
                  <a:pt x="7513480" y="2296493"/>
                </a:lnTo>
                <a:close/>
              </a:path>
            </a:pathLst>
          </a:custGeom>
          <a:solidFill>
            <a:srgbClr val="D8E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914095" y="7282656"/>
            <a:ext cx="4230370" cy="5003800"/>
          </a:xfrm>
          <a:custGeom>
            <a:avLst/>
            <a:gdLst/>
            <a:ahLst/>
            <a:cxnLst/>
            <a:rect l="l" t="t" r="r" b="b"/>
            <a:pathLst>
              <a:path w="4230370" h="5003800">
                <a:moveTo>
                  <a:pt x="4229760" y="0"/>
                </a:moveTo>
                <a:lnTo>
                  <a:pt x="4224439" y="0"/>
                </a:lnTo>
                <a:lnTo>
                  <a:pt x="4224439" y="2540"/>
                </a:lnTo>
                <a:lnTo>
                  <a:pt x="4224439" y="2971"/>
                </a:lnTo>
                <a:lnTo>
                  <a:pt x="4224439" y="5001260"/>
                </a:lnTo>
                <a:lnTo>
                  <a:pt x="2984" y="5001260"/>
                </a:lnTo>
                <a:lnTo>
                  <a:pt x="5969" y="5001234"/>
                </a:lnTo>
                <a:lnTo>
                  <a:pt x="4224439" y="5001234"/>
                </a:lnTo>
                <a:lnTo>
                  <a:pt x="4224439" y="4998250"/>
                </a:lnTo>
                <a:lnTo>
                  <a:pt x="5969" y="4998250"/>
                </a:lnTo>
                <a:lnTo>
                  <a:pt x="5969" y="6350"/>
                </a:lnTo>
                <a:lnTo>
                  <a:pt x="2984" y="6350"/>
                </a:lnTo>
                <a:lnTo>
                  <a:pt x="2984" y="5956"/>
                </a:lnTo>
                <a:lnTo>
                  <a:pt x="5969" y="5956"/>
                </a:lnTo>
                <a:lnTo>
                  <a:pt x="4224439" y="5956"/>
                </a:lnTo>
                <a:lnTo>
                  <a:pt x="4224439" y="2971"/>
                </a:lnTo>
                <a:lnTo>
                  <a:pt x="5969" y="2971"/>
                </a:lnTo>
                <a:lnTo>
                  <a:pt x="2984" y="2971"/>
                </a:lnTo>
                <a:lnTo>
                  <a:pt x="2984" y="2540"/>
                </a:lnTo>
                <a:lnTo>
                  <a:pt x="4224439" y="2540"/>
                </a:lnTo>
                <a:lnTo>
                  <a:pt x="4224439" y="0"/>
                </a:lnTo>
                <a:lnTo>
                  <a:pt x="0" y="0"/>
                </a:lnTo>
                <a:lnTo>
                  <a:pt x="0" y="2540"/>
                </a:lnTo>
                <a:lnTo>
                  <a:pt x="0" y="6350"/>
                </a:lnTo>
                <a:lnTo>
                  <a:pt x="0" y="4998720"/>
                </a:lnTo>
                <a:lnTo>
                  <a:pt x="0" y="5001260"/>
                </a:lnTo>
                <a:lnTo>
                  <a:pt x="0" y="5003800"/>
                </a:lnTo>
                <a:lnTo>
                  <a:pt x="4229760" y="5003800"/>
                </a:lnTo>
                <a:lnTo>
                  <a:pt x="4229760" y="5001260"/>
                </a:lnTo>
                <a:lnTo>
                  <a:pt x="4227423" y="5001260"/>
                </a:lnTo>
                <a:lnTo>
                  <a:pt x="4229760" y="5001234"/>
                </a:lnTo>
                <a:lnTo>
                  <a:pt x="4229760" y="4998720"/>
                </a:lnTo>
                <a:lnTo>
                  <a:pt x="4229760" y="4998250"/>
                </a:lnTo>
                <a:lnTo>
                  <a:pt x="4229760" y="6350"/>
                </a:lnTo>
                <a:lnTo>
                  <a:pt x="4227423" y="6350"/>
                </a:lnTo>
                <a:lnTo>
                  <a:pt x="4227423" y="5956"/>
                </a:lnTo>
                <a:lnTo>
                  <a:pt x="4229760" y="5956"/>
                </a:lnTo>
                <a:lnTo>
                  <a:pt x="4229760" y="2971"/>
                </a:lnTo>
                <a:lnTo>
                  <a:pt x="4227423" y="2971"/>
                </a:lnTo>
                <a:lnTo>
                  <a:pt x="4227423" y="2540"/>
                </a:lnTo>
                <a:lnTo>
                  <a:pt x="4229760" y="2540"/>
                </a:lnTo>
                <a:lnTo>
                  <a:pt x="4229760" y="0"/>
                </a:lnTo>
                <a:close/>
              </a:path>
            </a:pathLst>
          </a:custGeom>
          <a:solidFill>
            <a:srgbClr val="31538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bg object 4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4712981" y="3444068"/>
            <a:ext cx="5054475" cy="2856273"/>
          </a:xfrm>
          <a:prstGeom prst="rect">
            <a:avLst/>
          </a:prstGeom>
        </p:spPr>
      </p:pic>
      <p:sp>
        <p:nvSpPr>
          <p:cNvPr id="49" name="bg object 49"/>
          <p:cNvSpPr/>
          <p:nvPr/>
        </p:nvSpPr>
        <p:spPr>
          <a:xfrm>
            <a:off x="14707019" y="3438112"/>
            <a:ext cx="5064125" cy="2867660"/>
          </a:xfrm>
          <a:custGeom>
            <a:avLst/>
            <a:gdLst/>
            <a:ahLst/>
            <a:cxnLst/>
            <a:rect l="l" t="t" r="r" b="b"/>
            <a:pathLst>
              <a:path w="5064125" h="2867660">
                <a:moveTo>
                  <a:pt x="5063972" y="0"/>
                </a:moveTo>
                <a:lnTo>
                  <a:pt x="5060429" y="0"/>
                </a:lnTo>
                <a:lnTo>
                  <a:pt x="5060429" y="2540"/>
                </a:lnTo>
                <a:lnTo>
                  <a:pt x="5060429" y="2984"/>
                </a:lnTo>
                <a:lnTo>
                  <a:pt x="5060429" y="5956"/>
                </a:lnTo>
                <a:lnTo>
                  <a:pt x="5060429" y="6350"/>
                </a:lnTo>
                <a:lnTo>
                  <a:pt x="5060429" y="2862224"/>
                </a:lnTo>
                <a:lnTo>
                  <a:pt x="5956" y="2862224"/>
                </a:lnTo>
                <a:lnTo>
                  <a:pt x="5956" y="6350"/>
                </a:lnTo>
                <a:lnTo>
                  <a:pt x="2971" y="6350"/>
                </a:lnTo>
                <a:lnTo>
                  <a:pt x="2971" y="5956"/>
                </a:lnTo>
                <a:lnTo>
                  <a:pt x="5956" y="5956"/>
                </a:lnTo>
                <a:lnTo>
                  <a:pt x="5060429" y="5956"/>
                </a:lnTo>
                <a:lnTo>
                  <a:pt x="5060429" y="2984"/>
                </a:lnTo>
                <a:lnTo>
                  <a:pt x="5956" y="2984"/>
                </a:lnTo>
                <a:lnTo>
                  <a:pt x="2971" y="2984"/>
                </a:lnTo>
                <a:lnTo>
                  <a:pt x="2971" y="2540"/>
                </a:lnTo>
                <a:lnTo>
                  <a:pt x="5060429" y="2540"/>
                </a:lnTo>
                <a:lnTo>
                  <a:pt x="5060429" y="0"/>
                </a:lnTo>
                <a:lnTo>
                  <a:pt x="0" y="0"/>
                </a:lnTo>
                <a:lnTo>
                  <a:pt x="0" y="2540"/>
                </a:lnTo>
                <a:lnTo>
                  <a:pt x="0" y="6350"/>
                </a:lnTo>
                <a:lnTo>
                  <a:pt x="0" y="2862580"/>
                </a:lnTo>
                <a:lnTo>
                  <a:pt x="0" y="2865120"/>
                </a:lnTo>
                <a:lnTo>
                  <a:pt x="0" y="2867660"/>
                </a:lnTo>
                <a:lnTo>
                  <a:pt x="5063972" y="2867660"/>
                </a:lnTo>
                <a:lnTo>
                  <a:pt x="5063972" y="6350"/>
                </a:lnTo>
                <a:lnTo>
                  <a:pt x="5063414" y="6350"/>
                </a:lnTo>
                <a:lnTo>
                  <a:pt x="5063414" y="5956"/>
                </a:lnTo>
                <a:lnTo>
                  <a:pt x="5063972" y="5956"/>
                </a:lnTo>
                <a:lnTo>
                  <a:pt x="5063972" y="2984"/>
                </a:lnTo>
                <a:lnTo>
                  <a:pt x="5063414" y="2984"/>
                </a:lnTo>
                <a:lnTo>
                  <a:pt x="5063414" y="2540"/>
                </a:lnTo>
                <a:lnTo>
                  <a:pt x="5063972" y="2540"/>
                </a:lnTo>
                <a:lnTo>
                  <a:pt x="5063972" y="0"/>
                </a:lnTo>
                <a:close/>
              </a:path>
            </a:pathLst>
          </a:custGeom>
          <a:solidFill>
            <a:srgbClr val="3153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568198"/>
            <a:ext cx="18093690" cy="2272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3267138"/>
            <a:ext cx="18093690" cy="9375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3210604"/>
            <a:ext cx="6433312" cy="7102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3210604"/>
            <a:ext cx="4623943" cy="7102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3210604"/>
            <a:ext cx="4623943" cy="7102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87773" y="2498194"/>
            <a:ext cx="1581150" cy="346249"/>
          </a:xfrm>
          <a:prstGeom prst="rect">
            <a:avLst/>
          </a:prstGeom>
          <a:ln w="4488">
            <a:solidFill>
              <a:srgbClr val="5497D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95275" algn="just">
              <a:lnSpc>
                <a:spcPts val="2650"/>
              </a:lnSpc>
            </a:pPr>
            <a:r>
              <a:rPr sz="22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1450" y="4729041"/>
            <a:ext cx="320039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19831" y="10523064"/>
            <a:ext cx="505015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189" algn="ctr">
              <a:lnSpc>
                <a:spcPct val="100000"/>
              </a:lnSpc>
              <a:spcBef>
                <a:spcPts val="100"/>
              </a:spcBef>
            </a:pPr>
            <a:r>
              <a:rPr sz="2250" b="1" dirty="0">
                <a:latin typeface="Calibri"/>
                <a:cs typeface="Calibri"/>
              </a:rPr>
              <a:t>Experimental </a:t>
            </a:r>
            <a:r>
              <a:rPr sz="2250" b="1" spc="-10" dirty="0">
                <a:latin typeface="Calibri"/>
                <a:cs typeface="Calibri"/>
              </a:rPr>
              <a:t>setup</a:t>
            </a:r>
            <a:endParaRPr sz="22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80630" y="7703667"/>
            <a:ext cx="4942840" cy="346249"/>
          </a:xfrm>
          <a:prstGeom prst="rect">
            <a:avLst/>
          </a:prstGeom>
          <a:ln w="4489">
            <a:solidFill>
              <a:srgbClr val="5497D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0" algn="ctr">
              <a:lnSpc>
                <a:spcPts val="2650"/>
              </a:lnSpc>
            </a:pP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225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90386" y="1166966"/>
            <a:ext cx="17913985" cy="88709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702560">
              <a:lnSpc>
                <a:spcPct val="100000"/>
              </a:lnSpc>
              <a:spcBef>
                <a:spcPts val="740"/>
              </a:spcBef>
            </a:pPr>
            <a:r>
              <a:rPr sz="2350" b="1" dirty="0">
                <a:latin typeface="Calibri"/>
                <a:cs typeface="Calibri"/>
              </a:rPr>
              <a:t>Title</a:t>
            </a:r>
            <a:r>
              <a:rPr sz="2350" b="1" spc="-6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of</a:t>
            </a:r>
            <a:r>
              <a:rPr sz="2350" b="1" spc="-6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the</a:t>
            </a:r>
            <a:r>
              <a:rPr sz="2350" b="1" spc="-6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Project</a:t>
            </a:r>
            <a:r>
              <a:rPr sz="2350" b="1" spc="-60" dirty="0">
                <a:latin typeface="Calibri"/>
                <a:cs typeface="Calibri"/>
              </a:rPr>
              <a:t> </a:t>
            </a:r>
            <a:r>
              <a:rPr sz="2350" b="1" spc="-10" dirty="0">
                <a:latin typeface="Calibri"/>
                <a:cs typeface="Calibri"/>
              </a:rPr>
              <a:t>:AI-</a:t>
            </a:r>
            <a:r>
              <a:rPr sz="2350" b="1" dirty="0">
                <a:latin typeface="Calibri"/>
                <a:cs typeface="Calibri"/>
              </a:rPr>
              <a:t>Based</a:t>
            </a:r>
            <a:r>
              <a:rPr sz="2350" b="1" spc="-6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Adaptive</a:t>
            </a:r>
            <a:r>
              <a:rPr sz="2350" b="1" spc="-6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Traffic</a:t>
            </a:r>
            <a:r>
              <a:rPr sz="2350" b="1" spc="-6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Signal</a:t>
            </a:r>
            <a:r>
              <a:rPr sz="2350" b="1" spc="-6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Control</a:t>
            </a:r>
            <a:r>
              <a:rPr sz="2350" b="1" spc="-6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System</a:t>
            </a:r>
            <a:r>
              <a:rPr sz="2350" b="1" spc="-6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with</a:t>
            </a:r>
            <a:r>
              <a:rPr sz="2350" b="1" spc="-60" dirty="0">
                <a:latin typeface="Calibri"/>
                <a:cs typeface="Calibri"/>
              </a:rPr>
              <a:t> </a:t>
            </a:r>
            <a:r>
              <a:rPr sz="2350" b="1" spc="-10" dirty="0">
                <a:latin typeface="Calibri"/>
                <a:cs typeface="Calibri"/>
              </a:rPr>
              <a:t>Emergency</a:t>
            </a:r>
            <a:r>
              <a:rPr sz="2350" b="1" spc="-60" dirty="0">
                <a:latin typeface="Calibri"/>
                <a:cs typeface="Calibri"/>
              </a:rPr>
              <a:t> </a:t>
            </a:r>
            <a:r>
              <a:rPr sz="2350" b="1" spc="-10" dirty="0">
                <a:latin typeface="Calibri"/>
                <a:cs typeface="Calibri"/>
              </a:rPr>
              <a:t>Handling</a:t>
            </a:r>
            <a:endParaRPr sz="2350">
              <a:latin typeface="Calibri"/>
              <a:cs typeface="Calibri"/>
            </a:endParaRPr>
          </a:p>
          <a:p>
            <a:pPr marL="3745865">
              <a:lnSpc>
                <a:spcPct val="100000"/>
              </a:lnSpc>
              <a:spcBef>
                <a:spcPts val="620"/>
              </a:spcBef>
            </a:pPr>
            <a:r>
              <a:rPr sz="2250" dirty="0">
                <a:latin typeface="Calibri"/>
                <a:cs typeface="Calibri"/>
              </a:rPr>
              <a:t>Manas Dave(CMPN), Krish Desai(CMPN),Rianna </a:t>
            </a:r>
            <a:r>
              <a:rPr sz="2250" spc="-10" dirty="0">
                <a:latin typeface="Calibri"/>
                <a:cs typeface="Calibri"/>
              </a:rPr>
              <a:t>Rodriguez(CMPN)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73489" y="2245594"/>
            <a:ext cx="4942840" cy="346249"/>
          </a:xfrm>
          <a:prstGeom prst="rect">
            <a:avLst/>
          </a:prstGeom>
          <a:ln w="4489">
            <a:solidFill>
              <a:srgbClr val="5497D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495" algn="ctr">
              <a:lnSpc>
                <a:spcPts val="2650"/>
              </a:lnSpc>
            </a:pP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sz="22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Literature</a:t>
            </a:r>
            <a:endParaRPr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88861" y="804142"/>
            <a:ext cx="118046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10" dirty="0">
                <a:solidFill>
                  <a:srgbClr val="FFFFFF"/>
                </a:solidFill>
                <a:latin typeface="Calibri"/>
                <a:cs typeface="Calibri"/>
              </a:rPr>
              <a:t>Academic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520799" y="2436872"/>
            <a:ext cx="946150" cy="391795"/>
          </a:xfrm>
          <a:prstGeom prst="rect">
            <a:avLst/>
          </a:prstGeom>
          <a:ln w="4486">
            <a:solidFill>
              <a:srgbClr val="5497D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2650"/>
              </a:lnSpc>
            </a:pPr>
            <a:r>
              <a:rPr sz="2250" b="1" spc="-10" dirty="0">
                <a:latin typeface="Calibri"/>
                <a:cs typeface="Calibri"/>
              </a:rPr>
              <a:t>Results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99255" y="11493329"/>
            <a:ext cx="1876425" cy="391795"/>
          </a:xfrm>
          <a:prstGeom prst="rect">
            <a:avLst/>
          </a:prstGeom>
          <a:ln w="4488">
            <a:solidFill>
              <a:srgbClr val="5497D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87655">
              <a:lnSpc>
                <a:spcPts val="2650"/>
              </a:lnSpc>
            </a:pPr>
            <a:r>
              <a:rPr sz="2250" b="1" spc="-10" dirty="0">
                <a:latin typeface="Calibri"/>
                <a:cs typeface="Calibri"/>
              </a:rPr>
              <a:t>References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120987" y="8254601"/>
            <a:ext cx="3977004" cy="391795"/>
          </a:xfrm>
          <a:prstGeom prst="rect">
            <a:avLst/>
          </a:prstGeom>
          <a:ln w="4489">
            <a:solidFill>
              <a:srgbClr val="5497D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2650"/>
              </a:lnSpc>
            </a:pPr>
            <a:r>
              <a:rPr sz="2250" b="1" dirty="0">
                <a:latin typeface="Calibri"/>
                <a:cs typeface="Calibri"/>
              </a:rPr>
              <a:t>Conclusion</a:t>
            </a:r>
            <a:r>
              <a:rPr sz="2250" b="1" spc="-35" dirty="0">
                <a:latin typeface="Calibri"/>
                <a:cs typeface="Calibri"/>
              </a:rPr>
              <a:t> </a:t>
            </a:r>
            <a:r>
              <a:rPr sz="2250" b="1" dirty="0">
                <a:latin typeface="Calibri"/>
                <a:cs typeface="Calibri"/>
              </a:rPr>
              <a:t>and</a:t>
            </a:r>
            <a:r>
              <a:rPr sz="2250" b="1" spc="-30" dirty="0">
                <a:latin typeface="Calibri"/>
                <a:cs typeface="Calibri"/>
              </a:rPr>
              <a:t> </a:t>
            </a:r>
            <a:r>
              <a:rPr sz="2250" b="1" dirty="0">
                <a:latin typeface="Calibri"/>
                <a:cs typeface="Calibri"/>
              </a:rPr>
              <a:t>future</a:t>
            </a:r>
            <a:r>
              <a:rPr sz="2250" b="1" spc="-30" dirty="0">
                <a:latin typeface="Calibri"/>
                <a:cs typeface="Calibri"/>
              </a:rPr>
              <a:t> </a:t>
            </a:r>
            <a:r>
              <a:rPr sz="2250" b="1" spc="-10" dirty="0">
                <a:latin typeface="Calibri"/>
                <a:cs typeface="Calibri"/>
              </a:rPr>
              <a:t>directions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493" y="2926058"/>
            <a:ext cx="5712460" cy="1519775"/>
          </a:xfrm>
          <a:prstGeom prst="rect">
            <a:avLst/>
          </a:prstGeom>
          <a:solidFill>
            <a:srgbClr val="D8E2F2"/>
          </a:solidFill>
          <a:ln w="17875">
            <a:solidFill>
              <a:srgbClr val="4472C3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89535" marR="95885" algn="just">
              <a:lnSpc>
                <a:spcPct val="102299"/>
              </a:lnSpc>
              <a:spcBef>
                <a:spcPts val="185"/>
              </a:spcBef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</a:t>
            </a:r>
            <a:r>
              <a:rPr sz="1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</a:t>
            </a:r>
            <a:r>
              <a:rPr sz="1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r>
              <a:rPr sz="1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sz="1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1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sz="1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  <a:r>
              <a:rPr sz="1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r>
              <a:rPr sz="1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1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four-way</a:t>
            </a:r>
            <a:r>
              <a:rPr sz="1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intersection.</a:t>
            </a:r>
            <a:r>
              <a:rPr sz="1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</a:t>
            </a:r>
            <a:r>
              <a:rPr sz="1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adjusts</a:t>
            </a:r>
            <a:r>
              <a:rPr sz="12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sz="1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timings</a:t>
            </a:r>
            <a:r>
              <a:rPr sz="1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1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r>
              <a:rPr sz="1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</a:t>
            </a:r>
            <a:r>
              <a:rPr sz="1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</a:t>
            </a:r>
            <a:r>
              <a:rPr sz="1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</a:t>
            </a:r>
            <a:r>
              <a:rPr sz="1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controller.</a:t>
            </a:r>
            <a:r>
              <a:rPr sz="1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</a:t>
            </a:r>
            <a:r>
              <a:rPr sz="1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1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incorporates</a:t>
            </a:r>
            <a:r>
              <a:rPr sz="1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</a:t>
            </a:r>
            <a:r>
              <a:rPr sz="1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r>
              <a:rPr sz="1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sz="1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  <a:r>
              <a:rPr sz="1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1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prioritizes</a:t>
            </a:r>
            <a:r>
              <a:rPr sz="1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sz="1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lanes</a:t>
            </a:r>
            <a:r>
              <a:rPr sz="1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z="12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</a:t>
            </a:r>
            <a:r>
              <a:rPr sz="1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sz="1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transitions.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Pygame,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  <a:r>
              <a:rPr sz="1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behavior.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sz="1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efficiency,</a:t>
            </a:r>
            <a:r>
              <a:rPr sz="1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congestion,</a:t>
            </a:r>
            <a:r>
              <a:rPr sz="1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</a:t>
            </a:r>
            <a:r>
              <a:rPr sz="12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</a:t>
            </a:r>
            <a:r>
              <a:rPr sz="1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sz="12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923" y="5236843"/>
            <a:ext cx="5654040" cy="667299"/>
          </a:xfrm>
          <a:prstGeom prst="rect">
            <a:avLst/>
          </a:prstGeom>
          <a:solidFill>
            <a:srgbClr val="D8E2F2"/>
          </a:solidFill>
          <a:ln w="17856">
            <a:solidFill>
              <a:srgbClr val="4472C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0325" algn="just">
              <a:lnSpc>
                <a:spcPts val="1255"/>
              </a:lnSpc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traffic signals operate on fixed timers, leading to inefficient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r>
              <a:rPr lang="en-IN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and increased congestion.</a:t>
            </a:r>
            <a:r>
              <a:rPr sz="1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</a:t>
            </a:r>
            <a:r>
              <a:rPr sz="1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 intelligent system</a:t>
            </a:r>
            <a:r>
              <a:rPr sz="1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adjusts signal timing based on real-time traffic density 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emergency vehicles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</a:t>
            </a:r>
            <a:r>
              <a:rPr lang="en-IN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sz="12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iciently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023" y="13160516"/>
            <a:ext cx="5671820" cy="449418"/>
          </a:xfrm>
          <a:prstGeom prst="rect">
            <a:avLst/>
          </a:prstGeom>
          <a:solidFill>
            <a:srgbClr val="D8E2F2"/>
          </a:solidFill>
          <a:ln w="17872">
            <a:solidFill>
              <a:srgbClr val="4472C3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40005" marR="43180" algn="just">
              <a:lnSpc>
                <a:spcPts val="1800"/>
              </a:lnSpc>
              <a:spcBef>
                <a:spcPts val="75"/>
              </a:spcBef>
            </a:pP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r>
              <a:rPr sz="1200" b="1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of AI-Based Traffic Signal Control System Showing Input, Processing, Decision, Control, and Output Layers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429992" y="7143169"/>
            <a:ext cx="5344719" cy="48789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algn="just">
              <a:lnSpc>
                <a:spcPts val="1800"/>
              </a:lnSpc>
              <a:spcBef>
                <a:spcPts val="350"/>
              </a:spcBef>
            </a:pPr>
            <a:r>
              <a:rPr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Comparative Analysis of Traffic Conditions Before and After Implementation of AI-Based Adaptive Traffic Signal Control System</a:t>
            </a:r>
            <a:endParaRPr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133371" y="12005245"/>
            <a:ext cx="5641340" cy="197329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326390">
              <a:lnSpc>
                <a:spcPct val="101299"/>
              </a:lnSpc>
              <a:spcBef>
                <a:spcPts val="110"/>
              </a:spcBef>
              <a:tabLst>
                <a:tab pos="226695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</a:t>
            </a:r>
            <a:r>
              <a:rPr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L.,</a:t>
            </a:r>
            <a:r>
              <a:rPr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Lv,</a:t>
            </a:r>
            <a:r>
              <a:rPr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Y.,</a:t>
            </a:r>
            <a:r>
              <a:rPr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</a:t>
            </a:r>
            <a:r>
              <a:rPr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</a:t>
            </a:r>
            <a:r>
              <a:rPr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Y.,</a:t>
            </a:r>
            <a:r>
              <a:rPr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“Traffic</a:t>
            </a:r>
            <a:r>
              <a:rPr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</a:t>
            </a:r>
            <a:r>
              <a:rPr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</a:t>
            </a:r>
            <a:r>
              <a:rPr sz="1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Learning,”</a:t>
            </a:r>
            <a:r>
              <a:rPr sz="1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sz="1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sz="1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</a:t>
            </a:r>
            <a:r>
              <a:rPr sz="14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Systems,</a:t>
            </a:r>
            <a:r>
              <a:rPr sz="14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2020.</a:t>
            </a:r>
            <a:endParaRPr lang="en-IN" sz="1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326390">
              <a:lnSpc>
                <a:spcPct val="101299"/>
              </a:lnSpc>
              <a:spcBef>
                <a:spcPts val="110"/>
              </a:spcBef>
              <a:tabLst>
                <a:tab pos="226695" algn="l"/>
              </a:tabLst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36220">
              <a:lnSpc>
                <a:spcPct val="101299"/>
              </a:lnSpc>
              <a:spcBef>
                <a:spcPts val="5"/>
              </a:spcBef>
              <a:tabLst>
                <a:tab pos="226695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Sharma,</a:t>
            </a:r>
            <a:r>
              <a:rPr sz="1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S.,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Kaur,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P.,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“Smart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Learning,”</a:t>
            </a:r>
            <a:r>
              <a:rPr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Access,</a:t>
            </a:r>
            <a:r>
              <a:rPr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2021.</a:t>
            </a:r>
            <a:endParaRPr lang="en-IN" sz="1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36220">
              <a:lnSpc>
                <a:spcPct val="101299"/>
              </a:lnSpc>
              <a:spcBef>
                <a:spcPts val="5"/>
              </a:spcBef>
              <a:tabLst>
                <a:tab pos="226695" algn="l"/>
              </a:tabLst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1299"/>
              </a:lnSpc>
              <a:tabLst>
                <a:tab pos="226695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Kumar,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R.,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Singh,</a:t>
            </a:r>
            <a:r>
              <a:rPr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A.,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“Adaptive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Logic,”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Conference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Systems, 2022</a:t>
            </a:r>
            <a:r>
              <a:rPr lang="en-IN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2108" y="8160572"/>
            <a:ext cx="7223125" cy="2164182"/>
          </a:xfrm>
          <a:prstGeom prst="rect">
            <a:avLst/>
          </a:prstGeom>
          <a:solidFill>
            <a:srgbClr val="D8E2F2"/>
          </a:solidFill>
          <a:ln w="17885">
            <a:solidFill>
              <a:srgbClr val="4472C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9690" algn="just">
              <a:lnSpc>
                <a:spcPts val="13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proposed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rule-based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controller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components:</a:t>
            </a:r>
            <a:endParaRPr sz="1200" dirty="0">
              <a:latin typeface="Times New Roman"/>
              <a:cs typeface="Times New Roman"/>
            </a:endParaRPr>
          </a:p>
          <a:p>
            <a:pPr marL="59690" algn="just">
              <a:lnSpc>
                <a:spcPct val="100000"/>
              </a:lnSpc>
              <a:spcBef>
                <a:spcPts val="275"/>
              </a:spcBef>
            </a:pPr>
            <a:r>
              <a:rPr sz="1200" dirty="0">
                <a:latin typeface="Times New Roman"/>
                <a:cs typeface="Times New Roman"/>
              </a:rPr>
              <a:t>Vehicle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Detection: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vehicles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lane</a:t>
            </a:r>
            <a:endParaRPr sz="1200" dirty="0">
              <a:latin typeface="Times New Roman"/>
              <a:cs typeface="Times New Roman"/>
            </a:endParaRPr>
          </a:p>
          <a:p>
            <a:pPr marL="59690" marR="2968625" algn="just">
              <a:lnSpc>
                <a:spcPct val="120000"/>
              </a:lnSpc>
            </a:pPr>
            <a:r>
              <a:rPr sz="1200" dirty="0">
                <a:latin typeface="Times New Roman"/>
                <a:cs typeface="Times New Roman"/>
              </a:rPr>
              <a:t>Density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Calculation: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Classifies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traffic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LOW,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MEDIUM,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HIGH </a:t>
            </a:r>
            <a:r>
              <a:rPr sz="1200" dirty="0">
                <a:latin typeface="Times New Roman"/>
                <a:cs typeface="Times New Roman"/>
              </a:rPr>
              <a:t>Dynamic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Timing:Signal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(vehicle_count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×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factor) </a:t>
            </a:r>
            <a:r>
              <a:rPr sz="1200" dirty="0">
                <a:latin typeface="Times New Roman"/>
                <a:cs typeface="Times New Roman"/>
              </a:rPr>
              <a:t>Round-Robin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Scheduling: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fairness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lanes </a:t>
            </a:r>
            <a:r>
              <a:rPr sz="1200" dirty="0">
                <a:latin typeface="Times New Roman"/>
                <a:cs typeface="Times New Roman"/>
              </a:rPr>
              <a:t>Emergency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Handling:</a:t>
            </a:r>
            <a:endParaRPr sz="1200" dirty="0">
              <a:latin typeface="Times New Roman"/>
              <a:cs typeface="Times New Roman"/>
            </a:endParaRPr>
          </a:p>
          <a:p>
            <a:pPr marL="59690" marR="4755515" algn="just">
              <a:lnSpc>
                <a:spcPct val="120000"/>
              </a:lnSpc>
            </a:pPr>
            <a:r>
              <a:rPr sz="1200" dirty="0">
                <a:latin typeface="Times New Roman"/>
                <a:cs typeface="Times New Roman"/>
              </a:rPr>
              <a:t>Detects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emergency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vehicles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Prioritizes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next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safe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transition </a:t>
            </a:r>
            <a:r>
              <a:rPr sz="1200" dirty="0">
                <a:latin typeface="Times New Roman"/>
                <a:cs typeface="Times New Roman"/>
              </a:rPr>
              <a:t>State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Model:</a:t>
            </a:r>
            <a:endParaRPr sz="1200" dirty="0">
              <a:latin typeface="Times New Roman"/>
              <a:cs typeface="Times New Roman"/>
            </a:endParaRPr>
          </a:p>
          <a:p>
            <a:pPr marL="59690" algn="just">
              <a:lnSpc>
                <a:spcPct val="100000"/>
              </a:lnSpc>
              <a:spcBef>
                <a:spcPts val="275"/>
              </a:spcBef>
            </a:pPr>
            <a:r>
              <a:rPr sz="1200" dirty="0">
                <a:latin typeface="Times New Roman"/>
                <a:cs typeface="Times New Roman"/>
              </a:rPr>
              <a:t>GREEN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YELLOW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GREEN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022246" y="9102175"/>
            <a:ext cx="5863590" cy="1223645"/>
          </a:xfrm>
          <a:prstGeom prst="rect">
            <a:avLst/>
          </a:prstGeom>
          <a:solidFill>
            <a:srgbClr val="D8E2F2"/>
          </a:solidFill>
          <a:ln w="4466">
            <a:solidFill>
              <a:srgbClr val="2E74B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0"/>
              </a:lnSpc>
            </a:pP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successfully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demonstrates an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intelligent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traffic control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mechanism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using</a:t>
            </a:r>
            <a:endParaRPr sz="1200" dirty="0">
              <a:latin typeface="Times New Roman"/>
              <a:cs typeface="Times New Roman"/>
            </a:endParaRPr>
          </a:p>
          <a:p>
            <a:pPr marR="118110">
              <a:lnSpc>
                <a:spcPct val="148900"/>
              </a:lnSpc>
            </a:pPr>
            <a:r>
              <a:rPr sz="1200" b="1" dirty="0">
                <a:latin typeface="Times New Roman"/>
                <a:cs typeface="Times New Roman"/>
              </a:rPr>
              <a:t>adaptive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signal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timing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 emergency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handling.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It improves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traffic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efficiency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compared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traditional </a:t>
            </a:r>
            <a:r>
              <a:rPr sz="1200" b="1" spc="-10" dirty="0">
                <a:latin typeface="Times New Roman"/>
                <a:cs typeface="Times New Roman"/>
              </a:rPr>
              <a:t>systems.</a:t>
            </a:r>
            <a:endParaRPr sz="1200" dirty="0">
              <a:latin typeface="Times New Roman"/>
              <a:cs typeface="Times New Roman"/>
            </a:endParaRPr>
          </a:p>
          <a:p>
            <a:pPr marR="2333625">
              <a:lnSpc>
                <a:spcPts val="2140"/>
              </a:lnSpc>
            </a:pPr>
            <a:r>
              <a:rPr sz="1200" b="1" dirty="0">
                <a:latin typeface="Times New Roman"/>
                <a:cs typeface="Times New Roman"/>
              </a:rPr>
              <a:t>Future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Scope:Integration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with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real-</a:t>
            </a:r>
            <a:r>
              <a:rPr sz="1200" b="1" dirty="0">
                <a:latin typeface="Times New Roman"/>
                <a:cs typeface="Times New Roman"/>
              </a:rPr>
              <a:t>time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sensors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(IoT) </a:t>
            </a:r>
            <a:r>
              <a:rPr sz="1200" b="1" dirty="0">
                <a:latin typeface="Times New Roman"/>
                <a:cs typeface="Times New Roman"/>
              </a:rPr>
              <a:t>Machine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learning-</a:t>
            </a:r>
            <a:r>
              <a:rPr sz="1200" b="1" dirty="0">
                <a:latin typeface="Times New Roman"/>
                <a:cs typeface="Times New Roman"/>
              </a:rPr>
              <a:t>based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prediction</a:t>
            </a:r>
            <a:r>
              <a:rPr sz="1200" b="1" spc="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models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46120" y="16099"/>
            <a:ext cx="8368030" cy="1206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39725">
              <a:lnSpc>
                <a:spcPct val="100899"/>
              </a:lnSpc>
              <a:spcBef>
                <a:spcPts val="105"/>
              </a:spcBef>
            </a:pP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St.Francis</a:t>
            </a:r>
            <a:r>
              <a:rPr sz="2500" b="1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2500" b="1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500" b="1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r>
              <a:rPr sz="2500" b="1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(Engineering</a:t>
            </a:r>
            <a:r>
              <a:rPr sz="2500" b="1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College)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AnAutonomous</a:t>
            </a:r>
            <a:r>
              <a:rPr sz="250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Institute,</a:t>
            </a:r>
            <a:r>
              <a:rPr sz="250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Affiliated</a:t>
            </a:r>
            <a:r>
              <a:rPr sz="250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500" b="1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University</a:t>
            </a:r>
            <a:r>
              <a:rPr sz="250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50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Mumbai</a:t>
            </a:r>
            <a:endParaRPr sz="2500">
              <a:latin typeface="Times New Roman"/>
              <a:cs typeface="Times New Roman"/>
            </a:endParaRPr>
          </a:p>
          <a:p>
            <a:pPr marL="985519">
              <a:lnSpc>
                <a:spcPct val="100000"/>
              </a:lnSpc>
              <a:spcBef>
                <a:spcPts val="229"/>
              </a:spcBef>
            </a:pP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Departmentof</a:t>
            </a:r>
            <a:r>
              <a:rPr sz="2500" b="1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ComputerEngineering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473366" y="769022"/>
            <a:ext cx="2012950" cy="4121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00" b="1" dirty="0">
                <a:solidFill>
                  <a:srgbClr val="FFFFFF"/>
                </a:solidFill>
                <a:latin typeface="Calibri"/>
                <a:cs typeface="Calibri"/>
              </a:rPr>
              <a:t>Year:</a:t>
            </a:r>
            <a:r>
              <a:rPr sz="2500" b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2500" b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500" b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b="1" spc="-25" dirty="0">
                <a:solidFill>
                  <a:srgbClr val="FFFFFF"/>
                </a:solidFill>
                <a:latin typeface="Calibri"/>
                <a:cs typeface="Calibri"/>
              </a:rPr>
              <a:t>26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2EA3DA1-D6DC-50A4-D2F4-6CC914E889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59" y="6178817"/>
            <a:ext cx="5344719" cy="6464668"/>
          </a:xfrm>
          <a:prstGeom prst="rect">
            <a:avLst/>
          </a:prstGeom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F8AE61A3-5A4A-2106-4C8E-17D27113A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398260"/>
              </p:ext>
            </p:extLst>
          </p:nvPr>
        </p:nvGraphicFramePr>
        <p:xfrm>
          <a:off x="6165850" y="2828668"/>
          <a:ext cx="7772399" cy="4500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853">
                  <a:extLst>
                    <a:ext uri="{9D8B030D-6E8A-4147-A177-3AD203B41FA5}">
                      <a16:colId xmlns:a16="http://schemas.microsoft.com/office/drawing/2014/main" val="3743064011"/>
                    </a:ext>
                  </a:extLst>
                </a:gridCol>
                <a:gridCol w="1915182">
                  <a:extLst>
                    <a:ext uri="{9D8B030D-6E8A-4147-A177-3AD203B41FA5}">
                      <a16:colId xmlns:a16="http://schemas.microsoft.com/office/drawing/2014/main" val="1571454491"/>
                    </a:ext>
                  </a:extLst>
                </a:gridCol>
                <a:gridCol w="1915182">
                  <a:extLst>
                    <a:ext uri="{9D8B030D-6E8A-4147-A177-3AD203B41FA5}">
                      <a16:colId xmlns:a16="http://schemas.microsoft.com/office/drawing/2014/main" val="2471105976"/>
                    </a:ext>
                  </a:extLst>
                </a:gridCol>
                <a:gridCol w="1915182">
                  <a:extLst>
                    <a:ext uri="{9D8B030D-6E8A-4147-A177-3AD203B41FA5}">
                      <a16:colId xmlns:a16="http://schemas.microsoft.com/office/drawing/2014/main" val="4197370545"/>
                    </a:ext>
                  </a:extLst>
                </a:gridCol>
              </a:tblGrid>
              <a:tr h="671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 / Ref No.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Discussion of Results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556359"/>
                  </a:ext>
                </a:extLst>
              </a:tr>
              <a:tr h="1621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 Traffic Signal Timing via Deep Reinforcement Learning (IEEE, 2020)</a:t>
                      </a:r>
                      <a:endParaRPr lang="en-US" sz="11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Deep Q-Network (DQN) to optimize signal timing based on real-time traffic states and rewards.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significant reduction in vehicle waiting time and improved traffic flow efficiency compared to fixed-time systems.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high computational power and large training dataset; complex to implement.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143330"/>
                  </a:ext>
                </a:extLst>
              </a:tr>
              <a:tr h="1150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 Smart Traffic Light Control System Using IoT and Machine Learning (IEEE, 2021)</a:t>
                      </a:r>
                      <a:endParaRPr lang="en-US" sz="11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IoT sensors with ML models to detect traffic density and dynamically adjust signals.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adaptability in real-world conditions with better congestion management.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 on hardware sensors and network reliability; higher cost.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062199"/>
                  </a:ext>
                </a:extLst>
              </a:tr>
              <a:tr h="1055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 Adaptive Traffic Signal Control Using Fuzzy Logic (IEEE, 2022)</a:t>
                      </a:r>
                      <a:endParaRPr lang="en-US" sz="11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fuzzy logic rules to determine signal timing based on traffic density levels.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smooth and flexible control without strict thresholds; easy to implement.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accurate compared to AI/learning-based approaches; limited scalability.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879779"/>
                  </a:ext>
                </a:extLst>
              </a:tr>
            </a:tbl>
          </a:graphicData>
        </a:graphic>
      </p:graphicFrame>
      <p:pic>
        <p:nvPicPr>
          <p:cNvPr id="30" name="Picture 29">
            <a:extLst>
              <a:ext uri="{FF2B5EF4-FFF2-40B4-BE49-F238E27FC236}">
                <a16:creationId xmlns:a16="http://schemas.microsoft.com/office/drawing/2014/main" id="{F2B7F7AF-753C-02B8-9CE4-2B09E6BA14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2729" y="2961744"/>
            <a:ext cx="5622290" cy="374819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8271485-B452-634F-1E1B-6F4157FDF920}"/>
              </a:ext>
            </a:extLst>
          </p:cNvPr>
          <p:cNvSpPr txBox="1"/>
          <p:nvPr/>
        </p:nvSpPr>
        <p:spPr>
          <a:xfrm>
            <a:off x="6318250" y="11191381"/>
            <a:ext cx="10058400" cy="1992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610" marR="6223635" algn="just">
              <a:lnSpc>
                <a:spcPts val="1970"/>
              </a:lnSpc>
              <a:spcBef>
                <a:spcPts val="105"/>
              </a:spcBef>
            </a:pPr>
            <a:r>
              <a:rPr lang="en-IN" sz="1800" dirty="0">
                <a:latin typeface="Times New Roman"/>
                <a:cs typeface="Times New Roman"/>
              </a:rPr>
              <a:t>Platform: </a:t>
            </a:r>
            <a:r>
              <a:rPr lang="en-IN" sz="1800" spc="-10" dirty="0">
                <a:latin typeface="Times New Roman"/>
                <a:cs typeface="Times New Roman"/>
              </a:rPr>
              <a:t>Python </a:t>
            </a:r>
            <a:r>
              <a:rPr lang="en-IN" sz="1800" dirty="0">
                <a:latin typeface="Times New Roman"/>
                <a:cs typeface="Times New Roman"/>
              </a:rPr>
              <a:t>Library: </a:t>
            </a:r>
            <a:r>
              <a:rPr lang="en-IN" sz="1800" spc="-10" dirty="0" err="1">
                <a:latin typeface="Times New Roman"/>
                <a:cs typeface="Times New Roman"/>
              </a:rPr>
              <a:t>Pygame</a:t>
            </a:r>
            <a:endParaRPr lang="en-IN" sz="1800" dirty="0">
              <a:latin typeface="Times New Roman"/>
              <a:cs typeface="Times New Roman"/>
            </a:endParaRPr>
          </a:p>
          <a:p>
            <a:pPr marL="54610" marR="3770629" algn="just">
              <a:lnSpc>
                <a:spcPts val="1970"/>
              </a:lnSpc>
              <a:spcBef>
                <a:spcPts val="5"/>
              </a:spcBef>
            </a:pPr>
            <a:r>
              <a:rPr lang="en-IN" sz="1800" dirty="0">
                <a:latin typeface="Times New Roman"/>
                <a:cs typeface="Times New Roman"/>
              </a:rPr>
              <a:t>Simulation Size: 4-way intersection (800x800 </a:t>
            </a:r>
            <a:r>
              <a:rPr lang="en-IN" sz="1800" spc="-10" dirty="0">
                <a:latin typeface="Times New Roman"/>
                <a:cs typeface="Times New Roman"/>
              </a:rPr>
              <a:t>grid) </a:t>
            </a:r>
          </a:p>
          <a:p>
            <a:pPr marL="54610" marR="3770629" algn="just">
              <a:lnSpc>
                <a:spcPts val="1970"/>
              </a:lnSpc>
              <a:spcBef>
                <a:spcPts val="5"/>
              </a:spcBef>
            </a:pPr>
            <a:r>
              <a:rPr lang="en-IN" sz="1800" spc="-10" dirty="0">
                <a:latin typeface="Times New Roman"/>
                <a:cs typeface="Times New Roman"/>
              </a:rPr>
              <a:t>Inputs:</a:t>
            </a:r>
            <a:endParaRPr lang="en-IN" sz="1800" dirty="0">
              <a:latin typeface="Times New Roman"/>
              <a:cs typeface="Times New Roman"/>
            </a:endParaRPr>
          </a:p>
          <a:p>
            <a:pPr marL="54610" marR="5405120" algn="just">
              <a:lnSpc>
                <a:spcPts val="1970"/>
              </a:lnSpc>
            </a:pPr>
            <a:r>
              <a:rPr lang="en-IN" sz="1800" dirty="0">
                <a:latin typeface="Times New Roman"/>
                <a:cs typeface="Times New Roman"/>
              </a:rPr>
              <a:t>Vehicle density per </a:t>
            </a:r>
            <a:r>
              <a:rPr lang="en-IN" sz="1800" spc="-20" dirty="0">
                <a:latin typeface="Times New Roman"/>
                <a:cs typeface="Times New Roman"/>
              </a:rPr>
              <a:t>lane </a:t>
            </a:r>
            <a:r>
              <a:rPr lang="en-IN" sz="1800" dirty="0">
                <a:latin typeface="Times New Roman"/>
                <a:cs typeface="Times New Roman"/>
              </a:rPr>
              <a:t>Emergency vehicle </a:t>
            </a:r>
            <a:r>
              <a:rPr lang="en-IN" sz="1800" spc="-10" dirty="0">
                <a:latin typeface="Times New Roman"/>
                <a:cs typeface="Times New Roman"/>
              </a:rPr>
              <a:t>presence Output:</a:t>
            </a:r>
            <a:endParaRPr lang="en-IN" sz="1800" dirty="0">
              <a:latin typeface="Times New Roman"/>
              <a:cs typeface="Times New Roman"/>
            </a:endParaRPr>
          </a:p>
          <a:p>
            <a:pPr marL="54610" algn="just">
              <a:lnSpc>
                <a:spcPct val="100000"/>
              </a:lnSpc>
              <a:spcBef>
                <a:spcPts val="180"/>
              </a:spcBef>
            </a:pPr>
            <a:r>
              <a:rPr lang="en-IN" sz="1800" dirty="0">
                <a:latin typeface="Times New Roman"/>
                <a:cs typeface="Times New Roman"/>
              </a:rPr>
              <a:t>Dynamic signal </a:t>
            </a:r>
            <a:r>
              <a:rPr lang="en-IN" sz="1800" spc="-10" dirty="0">
                <a:latin typeface="Times New Roman"/>
                <a:cs typeface="Times New Roman"/>
              </a:rPr>
              <a:t>timing</a:t>
            </a:r>
            <a:endParaRPr lang="en-IN" sz="1800" dirty="0">
              <a:latin typeface="Times New Roman"/>
              <a:cs typeface="Times New Roman"/>
            </a:endParaRPr>
          </a:p>
          <a:p>
            <a:pPr marL="54610" algn="just">
              <a:lnSpc>
                <a:spcPct val="100000"/>
              </a:lnSpc>
              <a:spcBef>
                <a:spcPts val="295"/>
              </a:spcBef>
            </a:pPr>
            <a:r>
              <a:rPr lang="en-IN" sz="1800" dirty="0">
                <a:latin typeface="Times New Roman"/>
                <a:cs typeface="Times New Roman"/>
              </a:rPr>
              <a:t>Traffic movement </a:t>
            </a:r>
            <a:r>
              <a:rPr lang="en-IN" sz="1800" spc="-10" dirty="0">
                <a:latin typeface="Times New Roman"/>
                <a:cs typeface="Times New Roman"/>
              </a:rPr>
              <a:t>visualization</a:t>
            </a:r>
            <a:endParaRPr lang="en-IN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669</Words>
  <Application>Microsoft Office PowerPoint</Application>
  <PresentationFormat>Custom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for paper presentation (1).pptx.pdf</dc:title>
  <dc:creator>gau</dc:creator>
  <cp:keywords>DAHG8h-ZNmk,BAHG8gMGhvY,0</cp:keywords>
  <cp:lastModifiedBy>Krish Desai</cp:lastModifiedBy>
  <cp:revision>3</cp:revision>
  <dcterms:created xsi:type="dcterms:W3CDTF">2026-04-18T05:29:14Z</dcterms:created>
  <dcterms:modified xsi:type="dcterms:W3CDTF">2026-04-20T07:33:07Z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2026-04-18T00:00:00Z</vt:filetime>
  </property>
  <property fmtid="{D5CDD505-2E9C-101B-9397-08002B2CF9AE}" pid="5" name="Producer">
    <vt:lpwstr>Canva</vt:lpwstr>
  </property>
</Properties>
</file>